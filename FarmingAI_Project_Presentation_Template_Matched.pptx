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FB872-76DF-4829-9B7C-DA5A6D5C5B9F}" v="3" dt="2026-09-23T14:50:01.15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sh Neelagund" userId="d5e3f32f90745cd8" providerId="LiveId" clId="{F36D1F18-4B4F-45BF-ABB7-12B984858828}"/>
    <pc:docChg chg="custSel delSld modSld">
      <pc:chgData name="Girish Neelagund" userId="d5e3f32f90745cd8" providerId="LiveId" clId="{F36D1F18-4B4F-45BF-ABB7-12B984858828}" dt="2026-09-23T14:55:35.037" v="220" actId="14100"/>
      <pc:docMkLst>
        <pc:docMk/>
      </pc:docMkLst>
      <pc:sldChg chg="delSp modSp mod">
        <pc:chgData name="Girish Neelagund" userId="d5e3f32f90745cd8" providerId="LiveId" clId="{F36D1F18-4B4F-45BF-ABB7-12B984858828}" dt="2026-09-23T14:38:52.982" v="105" actId="21"/>
        <pc:sldMkLst>
          <pc:docMk/>
          <pc:sldMk cId="952317876" sldId="291"/>
        </pc:sldMkLst>
        <pc:spChg chg="del">
          <ac:chgData name="Girish Neelagund" userId="d5e3f32f90745cd8" providerId="LiveId" clId="{F36D1F18-4B4F-45BF-ABB7-12B984858828}" dt="2026-09-23T14:38:52.982" v="105" actId="21"/>
          <ac:spMkLst>
            <pc:docMk/>
            <pc:sldMk cId="952317876" sldId="291"/>
            <ac:spMk id="3" creationId="{B0B023FA-CFEB-ACE9-8425-7E72E307CDC5}"/>
          </ac:spMkLst>
        </pc:spChg>
        <pc:spChg chg="mod">
          <ac:chgData name="Girish Neelagund" userId="d5e3f32f90745cd8" providerId="LiveId" clId="{F36D1F18-4B4F-45BF-ABB7-12B984858828}" dt="2026-09-23T14:37:37.234" v="36" actId="20577"/>
          <ac:spMkLst>
            <pc:docMk/>
            <pc:sldMk cId="952317876" sldId="291"/>
            <ac:spMk id="4" creationId="{A828B9EF-C084-F5D4-CA27-75AF7D995640}"/>
          </ac:spMkLst>
        </pc:spChg>
        <pc:graphicFrameChg chg="modGraphic">
          <ac:chgData name="Girish Neelagund" userId="d5e3f32f90745cd8" providerId="LiveId" clId="{F36D1F18-4B4F-45BF-ABB7-12B984858828}" dt="2026-09-23T14:38:30.850" v="104" actId="20577"/>
          <ac:graphicFrameMkLst>
            <pc:docMk/>
            <pc:sldMk cId="952317876" sldId="291"/>
            <ac:graphicFrameMk id="96" creationId="{00000000-0000-0000-0000-000000000000}"/>
          </ac:graphicFrameMkLst>
        </pc:graphicFrameChg>
      </pc:sldChg>
      <pc:sldChg chg="addSp modSp mod">
        <pc:chgData name="Girish Neelagund" userId="d5e3f32f90745cd8" providerId="LiveId" clId="{F36D1F18-4B4F-45BF-ABB7-12B984858828}" dt="2026-09-23T14:44:40.715" v="149" actId="5793"/>
        <pc:sldMkLst>
          <pc:docMk/>
          <pc:sldMk cId="3114963633" sldId="295"/>
        </pc:sldMkLst>
        <pc:spChg chg="mod">
          <ac:chgData name="Girish Neelagund" userId="d5e3f32f90745cd8" providerId="LiveId" clId="{F36D1F18-4B4F-45BF-ABB7-12B984858828}" dt="2026-09-23T14:40:17.134" v="108" actId="5793"/>
          <ac:spMkLst>
            <pc:docMk/>
            <pc:sldMk cId="3114963633" sldId="295"/>
            <ac:spMk id="2" creationId="{9BB86949-7ED1-C43B-B1E3-5122BB67A596}"/>
          </ac:spMkLst>
        </pc:spChg>
        <pc:spChg chg="add mod">
          <ac:chgData name="Girish Neelagund" userId="d5e3f32f90745cd8" providerId="LiveId" clId="{F36D1F18-4B4F-45BF-ABB7-12B984858828}" dt="2026-09-23T14:44:40.715" v="149" actId="5793"/>
          <ac:spMkLst>
            <pc:docMk/>
            <pc:sldMk cId="3114963633" sldId="295"/>
            <ac:spMk id="4" creationId="{BC8C3220-2269-903F-0D49-31C0EEAE2D65}"/>
          </ac:spMkLst>
        </pc:spChg>
        <pc:picChg chg="add mod">
          <ac:chgData name="Girish Neelagund" userId="d5e3f32f90745cd8" providerId="LiveId" clId="{F36D1F18-4B4F-45BF-ABB7-12B984858828}" dt="2026-09-23T14:44:12.786" v="118" actId="14100"/>
          <ac:picMkLst>
            <pc:docMk/>
            <pc:sldMk cId="3114963633" sldId="295"/>
            <ac:picMk id="5" creationId="{5AC32030-8492-D8FC-F3AC-65EAD7A84BCD}"/>
          </ac:picMkLst>
        </pc:picChg>
      </pc:sldChg>
      <pc:sldChg chg="addSp modSp mod">
        <pc:chgData name="Girish Neelagund" userId="d5e3f32f90745cd8" providerId="LiveId" clId="{F36D1F18-4B4F-45BF-ABB7-12B984858828}" dt="2026-09-23T14:46:26.591" v="152" actId="1076"/>
        <pc:sldMkLst>
          <pc:docMk/>
          <pc:sldMk cId="1316545553" sldId="296"/>
        </pc:sldMkLst>
        <pc:picChg chg="add mod">
          <ac:chgData name="Girish Neelagund" userId="d5e3f32f90745cd8" providerId="LiveId" clId="{F36D1F18-4B4F-45BF-ABB7-12B984858828}" dt="2026-09-23T14:46:26.591" v="152" actId="1076"/>
          <ac:picMkLst>
            <pc:docMk/>
            <pc:sldMk cId="1316545553" sldId="296"/>
            <ac:picMk id="4" creationId="{902AB657-7208-235F-4033-3593DFE6FB90}"/>
          </ac:picMkLst>
        </pc:picChg>
      </pc:sldChg>
      <pc:sldChg chg="addSp delSp modSp mod">
        <pc:chgData name="Girish Neelagund" userId="d5e3f32f90745cd8" providerId="LiveId" clId="{F36D1F18-4B4F-45BF-ABB7-12B984858828}" dt="2026-09-23T14:50:41.400" v="192" actId="1076"/>
        <pc:sldMkLst>
          <pc:docMk/>
          <pc:sldMk cId="232371894" sldId="297"/>
        </pc:sldMkLst>
        <pc:spChg chg="del">
          <ac:chgData name="Girish Neelagund" userId="d5e3f32f90745cd8" providerId="LiveId" clId="{F36D1F18-4B4F-45BF-ABB7-12B984858828}" dt="2026-09-23T14:50:33.820" v="188" actId="21"/>
          <ac:spMkLst>
            <pc:docMk/>
            <pc:sldMk cId="232371894" sldId="297"/>
            <ac:spMk id="2" creationId="{00000000-0000-0000-0000-000000000000}"/>
          </ac:spMkLst>
        </pc:spChg>
        <pc:spChg chg="add del mod">
          <ac:chgData name="Girish Neelagund" userId="d5e3f32f90745cd8" providerId="LiveId" clId="{F36D1F18-4B4F-45BF-ABB7-12B984858828}" dt="2026-09-23T14:50:33.838" v="190"/>
          <ac:spMkLst>
            <pc:docMk/>
            <pc:sldMk cId="232371894" sldId="297"/>
            <ac:spMk id="3" creationId="{745EF555-5C58-4243-DB85-63D7E6BE3063}"/>
          </ac:spMkLst>
        </pc:spChg>
        <pc:spChg chg="del mod">
          <ac:chgData name="Girish Neelagund" userId="d5e3f32f90745cd8" providerId="LiveId" clId="{F36D1F18-4B4F-45BF-ABB7-12B984858828}" dt="2026-09-23T14:50:38.873" v="191" actId="21"/>
          <ac:spMkLst>
            <pc:docMk/>
            <pc:sldMk cId="232371894" sldId="297"/>
            <ac:spMk id="4" creationId="{00000000-0000-0000-0000-000000000000}"/>
          </ac:spMkLst>
        </pc:spChg>
        <pc:picChg chg="add mod">
          <ac:chgData name="Girish Neelagund" userId="d5e3f32f90745cd8" providerId="LiveId" clId="{F36D1F18-4B4F-45BF-ABB7-12B984858828}" dt="2026-09-23T14:50:41.400" v="192" actId="1076"/>
          <ac:picMkLst>
            <pc:docMk/>
            <pc:sldMk cId="232371894" sldId="297"/>
            <ac:picMk id="6" creationId="{8A295560-7B34-CFA5-1C54-3CC70C7A6A6B}"/>
          </ac:picMkLst>
        </pc:picChg>
      </pc:sldChg>
      <pc:sldChg chg="del">
        <pc:chgData name="Girish Neelagund" userId="d5e3f32f90745cd8" providerId="LiveId" clId="{F36D1F18-4B4F-45BF-ABB7-12B984858828}" dt="2026-09-23T14:51:00.390" v="193" actId="2696"/>
        <pc:sldMkLst>
          <pc:docMk/>
          <pc:sldMk cId="445195169" sldId="298"/>
        </pc:sldMkLst>
      </pc:sldChg>
      <pc:sldChg chg="addSp modSp mod">
        <pc:chgData name="Girish Neelagund" userId="d5e3f32f90745cd8" providerId="LiveId" clId="{F36D1F18-4B4F-45BF-ABB7-12B984858828}" dt="2026-09-23T14:51:34.099" v="196" actId="1076"/>
        <pc:sldMkLst>
          <pc:docMk/>
          <pc:sldMk cId="4000696967" sldId="299"/>
        </pc:sldMkLst>
        <pc:spChg chg="mod">
          <ac:chgData name="Girish Neelagund" userId="d5e3f32f90745cd8" providerId="LiveId" clId="{F36D1F18-4B4F-45BF-ABB7-12B984858828}" dt="2026-09-23T14:51:29.843" v="194" actId="14100"/>
          <ac:spMkLst>
            <pc:docMk/>
            <pc:sldMk cId="4000696967" sldId="299"/>
            <ac:spMk id="3" creationId="{322462E8-EB3A-DA7D-44CB-4E757803A755}"/>
          </ac:spMkLst>
        </pc:spChg>
        <pc:picChg chg="add mod">
          <ac:chgData name="Girish Neelagund" userId="d5e3f32f90745cd8" providerId="LiveId" clId="{F36D1F18-4B4F-45BF-ABB7-12B984858828}" dt="2026-09-23T14:51:34.099" v="196" actId="1076"/>
          <ac:picMkLst>
            <pc:docMk/>
            <pc:sldMk cId="4000696967" sldId="299"/>
            <ac:picMk id="5" creationId="{987846BF-D14D-59A1-5D11-2FF08646B83A}"/>
          </ac:picMkLst>
        </pc:picChg>
      </pc:sldChg>
      <pc:sldChg chg="del">
        <pc:chgData name="Girish Neelagund" userId="d5e3f32f90745cd8" providerId="LiveId" clId="{F36D1F18-4B4F-45BF-ABB7-12B984858828}" dt="2026-09-23T14:51:54.751" v="197" actId="2696"/>
        <pc:sldMkLst>
          <pc:docMk/>
          <pc:sldMk cId="893417001" sldId="300"/>
        </pc:sldMkLst>
      </pc:sldChg>
      <pc:sldChg chg="addSp delSp modSp mod">
        <pc:chgData name="Girish Neelagund" userId="d5e3f32f90745cd8" providerId="LiveId" clId="{F36D1F18-4B4F-45BF-ABB7-12B984858828}" dt="2026-09-23T14:52:53.575" v="201" actId="1076"/>
        <pc:sldMkLst>
          <pc:docMk/>
          <pc:sldMk cId="1429961814" sldId="301"/>
        </pc:sldMkLst>
        <pc:spChg chg="del">
          <ac:chgData name="Girish Neelagund" userId="d5e3f32f90745cd8" providerId="LiveId" clId="{F36D1F18-4B4F-45BF-ABB7-12B984858828}" dt="2026-09-23T14:52:20.792" v="198" actId="21"/>
          <ac:spMkLst>
            <pc:docMk/>
            <pc:sldMk cId="1429961814" sldId="301"/>
            <ac:spMk id="2" creationId="{CCA977A3-5FA0-8FF5-E1D1-86C9ED676512}"/>
          </ac:spMkLst>
        </pc:spChg>
        <pc:picChg chg="add mod">
          <ac:chgData name="Girish Neelagund" userId="d5e3f32f90745cd8" providerId="LiveId" clId="{F36D1F18-4B4F-45BF-ABB7-12B984858828}" dt="2026-09-23T14:52:53.575" v="201" actId="1076"/>
          <ac:picMkLst>
            <pc:docMk/>
            <pc:sldMk cId="1429961814" sldId="301"/>
            <ac:picMk id="4" creationId="{7C9F2AD7-DEB1-911F-7D7C-65301BEF2B95}"/>
          </ac:picMkLst>
        </pc:picChg>
      </pc:sldChg>
      <pc:sldChg chg="addSp delSp modSp mod">
        <pc:chgData name="Girish Neelagund" userId="d5e3f32f90745cd8" providerId="LiveId" clId="{F36D1F18-4B4F-45BF-ABB7-12B984858828}" dt="2026-09-23T14:54:38.062" v="212"/>
        <pc:sldMkLst>
          <pc:docMk/>
          <pc:sldMk cId="3585092305" sldId="302"/>
        </pc:sldMkLst>
        <pc:spChg chg="del mod">
          <ac:chgData name="Girish Neelagund" userId="d5e3f32f90745cd8" providerId="LiveId" clId="{F36D1F18-4B4F-45BF-ABB7-12B984858828}" dt="2026-09-23T14:54:38.062" v="212"/>
          <ac:spMkLst>
            <pc:docMk/>
            <pc:sldMk cId="3585092305" sldId="302"/>
            <ac:spMk id="2" creationId="{9692D13D-6B69-03D8-BA22-587B943A2572}"/>
          </ac:spMkLst>
        </pc:spChg>
        <pc:picChg chg="add mod">
          <ac:chgData name="Girish Neelagund" userId="d5e3f32f90745cd8" providerId="LiveId" clId="{F36D1F18-4B4F-45BF-ABB7-12B984858828}" dt="2026-09-23T14:54:36.376" v="210" actId="1076"/>
          <ac:picMkLst>
            <pc:docMk/>
            <pc:sldMk cId="3585092305" sldId="302"/>
            <ac:picMk id="4" creationId="{520BDAB5-7CA4-0E8E-133D-57CD44AB3EC7}"/>
          </ac:picMkLst>
        </pc:picChg>
      </pc:sldChg>
      <pc:sldChg chg="addSp delSp modSp mod">
        <pc:chgData name="Girish Neelagund" userId="d5e3f32f90745cd8" providerId="LiveId" clId="{F36D1F18-4B4F-45BF-ABB7-12B984858828}" dt="2026-09-23T14:55:35.037" v="220" actId="14100"/>
        <pc:sldMkLst>
          <pc:docMk/>
          <pc:sldMk cId="2601907186" sldId="303"/>
        </pc:sldMkLst>
        <pc:spChg chg="del mod">
          <ac:chgData name="Girish Neelagund" userId="d5e3f32f90745cd8" providerId="LiveId" clId="{F36D1F18-4B4F-45BF-ABB7-12B984858828}" dt="2026-09-23T14:55:26.306" v="216"/>
          <ac:spMkLst>
            <pc:docMk/>
            <pc:sldMk cId="2601907186" sldId="303"/>
            <ac:spMk id="2" creationId="{EB55001C-8880-8B09-8704-29D3F62E7A03}"/>
          </ac:spMkLst>
        </pc:spChg>
        <pc:picChg chg="add mod">
          <ac:chgData name="Girish Neelagund" userId="d5e3f32f90745cd8" providerId="LiveId" clId="{F36D1F18-4B4F-45BF-ABB7-12B984858828}" dt="2026-09-23T14:55:35.037" v="220" actId="14100"/>
          <ac:picMkLst>
            <pc:docMk/>
            <pc:sldMk cId="2601907186" sldId="303"/>
            <ac:picMk id="4" creationId="{D55CB764-8810-9356-7BB3-E9B488B9CC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FarmingAI</a:t>
            </a:r>
            <a:endParaRPr lang="en-IN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EDCFF"/>
                </a:solidFill>
                <a:latin typeface="Arial"/>
              </a:rPr>
              <a:t>AI Agent for Smart Farming Advice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Problem Statement No. 14 — Smart Agriculture</a:t>
            </a:r>
            <a:endParaRPr lang="en-US"/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1800" b="0">
                <a:solidFill>
                  <a:srgbClr val="FFFFFF"/>
                </a:solidFill>
                <a:latin typeface="Arial"/>
              </a:rPr>
              <a:t>IBM University Engagement Project Submission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0" i="1">
                <a:solidFill>
                  <a:srgbClr val="D2E6FF"/>
                </a:solidFill>
                <a:latin typeface="Arial"/>
              </a:rPr>
              <a:t>“Exploring the Power of Agentic AI with Groq Llama 3.3/4 and IBM Bob”</a:t>
            </a:r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70947648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rgbClr val="002060"/>
                          </a:solidFill>
                          <a:latin typeface="Arial"/>
                        </a:rPr>
                        <a:t>Girish Varaprasad Neelagund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500" b="0" dirty="0">
                          <a:solidFill>
                            <a:srgbClr val="1E1E1E"/>
                          </a:solidFill>
                          <a:latin typeface="Arial"/>
                        </a:rPr>
                        <a:t>gvneelagund9205@gmail.com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500" b="0" dirty="0">
                          <a:solidFill>
                            <a:srgbClr val="1E1E1E"/>
                          </a:solidFill>
                          <a:latin typeface="Arial"/>
                        </a:rPr>
                        <a:t>8431092291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1" dirty="0">
                <a:solidFill>
                  <a:srgbClr val="1E1E1E"/>
                </a:solidFill>
                <a:latin typeface="Arial"/>
              </a:rPr>
              <a:t>Domain of  Project – </a:t>
            </a:r>
            <a:r>
              <a:rPr sz="2400" b="1" dirty="0">
                <a:solidFill>
                  <a:srgbClr val="002060"/>
                </a:solidFill>
                <a:latin typeface="Arial"/>
              </a:rPr>
              <a:t>Agriculture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1" dirty="0">
                <a:solidFill>
                  <a:srgbClr val="1E1E1E"/>
                </a:solidFill>
                <a:latin typeface="Arial"/>
              </a:rPr>
              <a:t>Project Title – </a:t>
            </a:r>
            <a:r>
              <a:rPr sz="2400" b="1" dirty="0" err="1">
                <a:solidFill>
                  <a:srgbClr val="002060"/>
                </a:solidFill>
                <a:latin typeface="Arial"/>
              </a:rPr>
              <a:t>FarmingAI</a:t>
            </a:r>
            <a:r>
              <a:rPr sz="2400" b="1" dirty="0">
                <a:solidFill>
                  <a:srgbClr val="002060"/>
                </a:solidFill>
                <a:latin typeface="Arial"/>
              </a:rPr>
              <a:t> — AI Agent for Smart Farming Advice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002060"/>
                </a:solidFill>
                <a:latin typeface="Arial"/>
              </a:rPr>
              <a:t>Problem Statement : FarmingAI — Smart Farming Advisory (PS No. 14)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The Challenge: </a:t>
            </a:r>
            <a:r>
              <a:rPr sz="2000" b="0">
                <a:solidFill>
                  <a:srgbClr val="1E1E1E"/>
                </a:solidFill>
                <a:latin typeface="Arial"/>
              </a:rPr>
              <a:t>Farmers face unpredictable weather, pest/disease outbreaks, fragmented guidance, and volatile market prices—leading to crop failure, inefficient irrigation, and debt.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The Objective: </a:t>
            </a:r>
            <a:r>
              <a:rPr sz="2000" b="0">
                <a:solidFill>
                  <a:srgbClr val="1E1E1E"/>
                </a:solidFill>
                <a:latin typeface="Arial"/>
              </a:rPr>
              <a:t>Build an autonomous multi-agent AI system delivering hyper-personalized, timely farming recommendations based on individual farm profiles and live conditions.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Multi-Agent Solution Swarm: </a:t>
            </a:r>
            <a:r>
              <a:rPr sz="2000" b="0">
                <a:solidFill>
                  <a:srgbClr val="1E1E1E"/>
                </a:solidFill>
                <a:latin typeface="Arial"/>
              </a:rPr>
              <a:t>Coordinated specialized agents for sowing advisory, live weather &amp; irrigation, vision-based pest detection, MSP market analysis, and scientific knowledge retrieval.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002060"/>
                </a:solidFill>
                <a:latin typeface="Arial"/>
              </a:rPr>
              <a:t>Proposed Solution: FarmingAI — Autonomous Multi-Agent Smart Farming Assistant</a:t>
            </a:r>
            <a:endParaRPr lang="en-US" b="1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Autonomous Multi-Agent Architecture: </a:t>
            </a:r>
            <a:r>
              <a:rPr sz="2000" b="0">
                <a:solidFill>
                  <a:srgbClr val="1E1E1E"/>
                </a:solidFill>
                <a:latin typeface="Arial"/>
              </a:rPr>
              <a:t>FarmingAI orchestrates 5 specialized agents via FarmingOrchestrator to deliver comprehensive, profile-conditioned farm management guidance.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Curated Agricultural RAG Engine: </a:t>
            </a:r>
            <a:r>
              <a:rPr sz="2000" b="0">
                <a:solidFill>
                  <a:srgbClr val="1E1E1E"/>
                </a:solidFill>
                <a:latin typeface="Arial"/>
              </a:rPr>
              <a:t>Integrates a verified 12-topic extension knowledge base with keyword/tag retrieval, preventing hallucinations and grounding advice in trusted agronomic science.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Multimodal Intelligence &amp; Live Sync: </a:t>
            </a:r>
            <a:r>
              <a:rPr sz="2000" b="0">
                <a:solidFill>
                  <a:srgbClr val="1E1E1E"/>
                </a:solidFill>
                <a:latin typeface="Arial"/>
              </a:rPr>
              <a:t>Combines real-time OpenWeatherMap data for dynamic irrigation schedules with Groq Llama 4 Vision for instant crop pest and disease leaf diagnostics.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Interactive Farmer Dashboard: </a:t>
            </a:r>
            <a:r>
              <a:rPr sz="2000" b="0">
                <a:solidFill>
                  <a:srgbClr val="1E1E1E"/>
                </a:solidFill>
                <a:latin typeface="Arial"/>
              </a:rPr>
              <a:t>A responsive 7-tab Streamlit dashboard delivering unified master action plans, Plotly cost break-downs, break-even financial analysis, and contextual chat.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b="1">
                <a:solidFill>
                  <a:srgbClr val="002060"/>
                </a:solidFill>
                <a:latin typeface="Arial"/>
              </a:rPr>
              <a:t>• Streamlit &amp; Python 3.11+: </a:t>
            </a:r>
            <a:r>
              <a:rPr sz="2000" b="0">
                <a:solidFill>
                  <a:srgbClr val="1E1E1E"/>
                </a:solidFill>
                <a:latin typeface="Arial"/>
              </a:rPr>
              <a:t>Modular dashboard architecture powering the 7-tab farmer interface, reactive session state, and intuitive parameter controls.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Groq LPU Inference &amp; Llama Models: </a:t>
            </a:r>
            <a:r>
              <a:rPr sz="2000" b="0">
                <a:solidFill>
                  <a:srgbClr val="1E1E1E"/>
                </a:solidFill>
                <a:latin typeface="Arial"/>
              </a:rPr>
              <a:t>High-speed inference using Llama-3.3-70B for orchestration &amp; RAG, Llama-3.1-8B for quick analytics, and Llama-4-Scout for multimodal vision.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OpenWeatherMap API: </a:t>
            </a:r>
            <a:r>
              <a:rPr sz="2000" b="0">
                <a:solidFill>
                  <a:srgbClr val="1E1E1E"/>
                </a:solidFill>
                <a:latin typeface="Arial"/>
              </a:rPr>
              <a:t>Live meteorological telemetry and 5-day forecasts driving dynamic, soil-aware irrigation schedules.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Curated Agricultural RAG Engine: </a:t>
            </a:r>
            <a:r>
              <a:rPr sz="2000" b="0">
                <a:solidFill>
                  <a:srgbClr val="1E1E1E"/>
                </a:solidFill>
                <a:latin typeface="Arial"/>
              </a:rPr>
              <a:t>12-topic extension corpus with keyword/tag-based retrieval and 10-parameter farmer profile conditioning.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Plotly &amp; Pandas: </a:t>
            </a:r>
            <a:r>
              <a:rPr sz="2000" b="0">
                <a:solidFill>
                  <a:srgbClr val="1E1E1E"/>
                </a:solidFill>
                <a:latin typeface="Arial"/>
              </a:rPr>
              <a:t>Interactive crop budget Donut charts, break-even cost analysis visualizations, and 7-day temperature spline plots.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IBM Bob &amp; Watsonx Orchestration: </a:t>
            </a:r>
            <a:r>
              <a:rPr sz="2000" b="0">
                <a:solidFill>
                  <a:srgbClr val="1E1E1E"/>
                </a:solidFill>
                <a:latin typeface="Arial"/>
              </a:rPr>
              <a:t>Visual multi-agent design patterns aligned with IBM University Engagement submission guidelines.</a:t>
            </a: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>
                <a:solidFill>
                  <a:srgbClr val="1E1E1E"/>
                </a:solidFill>
                <a:latin typeface="Arial"/>
              </a:rPr>
              <a:t>Required Files created for FarmingAI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65321" y="1408283"/>
            <a:ext cx="8823960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000" b="0">
                <a:solidFill>
                  <a:srgbClr val="1E1E1E"/>
                </a:solidFill>
                <a:latin typeface="Arial"/>
              </a:rPr>
              <a:t>• app.py — Primary Streamlit dashboard &amp; multi-agent UI orchestration</a:t>
            </a:r>
            <a:endParaRPr lang="en-IN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b="0">
                <a:solidFill>
                  <a:srgbClr val="1E1E1E"/>
                </a:solidFill>
                <a:latin typeface="Arial"/>
              </a:rPr>
              <a:t>• config.py — Environment settings, API keys &amp; Groq model configurations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b="0">
                <a:solidFill>
                  <a:srgbClr val="1E1E1E"/>
                </a:solidFill>
                <a:latin typeface="Arial"/>
              </a:rPr>
              <a:t>• requirements.txt — Production dependencies (streamlit, groq, plotly, requests)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b="0">
                <a:solidFill>
                  <a:srgbClr val="1E1E1E"/>
                </a:solidFill>
                <a:latin typeface="Arial"/>
              </a:rPr>
              <a:t>• .env — Secure isolation of Groq &amp; OpenWeatherMap API credentials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b="0">
                <a:solidFill>
                  <a:srgbClr val="1E1E1E"/>
                </a:solidFill>
                <a:latin typeface="Arial"/>
              </a:rPr>
              <a:t>• run.bat — Single-click automated environment launch script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b="1">
                <a:solidFill>
                  <a:srgbClr val="1E1E1E"/>
                </a:solidFill>
                <a:latin typeface="Arial"/>
              </a:rPr>
              <a:t>• agents/ — Modular multi-agent implementation directory: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800" b="0">
                <a:solidFill>
                  <a:srgbClr val="1E1E1E"/>
                </a:solidFill>
                <a:latin typeface="Arial"/>
              </a:rPr>
              <a:t>   orchestrator.py, crop_advisory_agent.py, weather_agent.py,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1800" b="0">
                <a:solidFill>
                  <a:srgbClr val="1E1E1E"/>
                </a:solidFill>
                <a:latin typeface="Arial"/>
              </a:rPr>
              <a:t>   pest_agent.py, market_agent.py, knowledge_agent.py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C3220-2269-903F-0D49-31C0EEAE2D65}"/>
              </a:ext>
            </a:extLst>
          </p:cNvPr>
          <p:cNvSpPr txBox="1"/>
          <p:nvPr/>
        </p:nvSpPr>
        <p:spPr>
          <a:xfrm>
            <a:off x="474822" y="1354586"/>
            <a:ext cx="1020922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Config.py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32030-8492-D8FC-F3AC-65EAD7A84B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6340" y="1969092"/>
            <a:ext cx="6960837" cy="41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>
                <a:solidFill>
                  <a:srgbClr val="002060"/>
                </a:solidFill>
                <a:latin typeface="Arial"/>
              </a:rPr>
              <a:t>IBM Bob Agent Workflow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AB657-7208-235F-4033-3593DFE6F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87" y="1385644"/>
            <a:ext cx="10844463" cy="514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295560-7B34-CFA5-1C54-3CC70C7A6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42" y="781980"/>
            <a:ext cx="10456116" cy="561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E1E1E"/>
                </a:solidFill>
                <a:latin typeface="Arial"/>
              </a:rPr>
              <a:t>Role of Agentic AI in the solution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6917997" cy="5611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200" b="1" dirty="0">
                <a:solidFill>
                  <a:srgbClr val="002060"/>
                </a:solidFill>
                <a:latin typeface="Arial"/>
              </a:rPr>
              <a:t>Role of Agentic AI in </a:t>
            </a:r>
            <a:r>
              <a:rPr sz="2200" b="1" dirty="0" err="1">
                <a:solidFill>
                  <a:srgbClr val="002060"/>
                </a:solidFill>
                <a:latin typeface="Arial"/>
              </a:rPr>
              <a:t>FarmingAI</a:t>
            </a:r>
            <a:endParaRPr sz="2200" b="1" dirty="0">
              <a:solidFill>
                <a:srgbClr val="002060"/>
              </a:solidFill>
              <a:latin typeface="Arial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02060"/>
                </a:solidFill>
                <a:latin typeface="Arial"/>
              </a:rPr>
              <a:t>• Autonomous Multi-Agent Specialization: 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Replaces rigid single prompts with 5 autonomous agents (Crop, Weather, Pest, Market, RAG) coordinated by </a:t>
            </a:r>
            <a:r>
              <a:rPr sz="2000" b="0" dirty="0" err="1">
                <a:solidFill>
                  <a:srgbClr val="1E1E1E"/>
                </a:solidFill>
                <a:latin typeface="Arial"/>
              </a:rPr>
              <a:t>FarmingOrchestrator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02060"/>
                </a:solidFill>
                <a:latin typeface="Arial"/>
              </a:rPr>
              <a:t>• Context-Aware Hyper-Personalization: 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Grounds agronomic reasoning in 10 farmer profile variables (soil, crop, acreage, sowing date, irrigation type).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02060"/>
                </a:solidFill>
                <a:latin typeface="Arial"/>
              </a:rPr>
              <a:t>• Dynamic Meteorological Adaptation: 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Actively queries live weather forecasts and adjusts irrigation and spraying windows in real time.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02060"/>
                </a:solidFill>
                <a:latin typeface="Arial"/>
              </a:rPr>
              <a:t>• Multimodal Diagnostic Reasoning: 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Combines computer vision with agronomic reasoning for instant leaf disease identification and treatment via </a:t>
            </a:r>
            <a:r>
              <a:rPr sz="2000" b="0" dirty="0" err="1">
                <a:solidFill>
                  <a:srgbClr val="1E1E1E"/>
                </a:solidFill>
                <a:latin typeface="Arial"/>
              </a:rPr>
              <a:t>Groq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 Llama 4 Vision.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 dirty="0">
                <a:solidFill>
                  <a:srgbClr val="002060"/>
                </a:solidFill>
                <a:latin typeface="Arial"/>
              </a:rPr>
              <a:t>• Unified Action Synthesis: </a:t>
            </a:r>
            <a:r>
              <a:rPr sz="2000" b="0" dirty="0">
                <a:solidFill>
                  <a:srgbClr val="1E1E1E"/>
                </a:solidFill>
                <a:latin typeface="Arial"/>
              </a:rPr>
              <a:t>Synthesizes isolated agronomic data into a single coherent, time-phased master plan for the farmer.</a:t>
            </a:r>
          </a:p>
        </p:txBody>
      </p:sp>
      <p:pic>
        <p:nvPicPr>
          <p:cNvPr id="5" name="Google Shape;196;p9">
            <a:extLst>
              <a:ext uri="{FF2B5EF4-FFF2-40B4-BE49-F238E27FC236}">
                <a16:creationId xmlns:a16="http://schemas.microsoft.com/office/drawing/2014/main" id="{987846BF-D14D-59A1-5D11-2FF08646B8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069" y="1600630"/>
            <a:ext cx="3015343" cy="4523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</a:pPr>
            <a:r>
              <a:rPr sz="2800" b="1">
                <a:solidFill>
                  <a:srgbClr val="002060"/>
                </a:solidFill>
                <a:latin typeface="Arial"/>
              </a:rPr>
              <a:t>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F2AD7-DEB1-911F-7D7C-65301BEF2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653" y="1209662"/>
            <a:ext cx="9849853" cy="472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</a:pPr>
            <a:r>
              <a:rPr sz="2800" b="1">
                <a:solidFill>
                  <a:srgbClr val="002060"/>
                </a:solidFill>
                <a:latin typeface="Arial"/>
              </a:rPr>
              <a:t>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BDAB5-7CA4-0E8E-133D-57CD44AB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94" y="960514"/>
            <a:ext cx="10748212" cy="578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</a:pPr>
            <a:r>
              <a:rPr sz="2800" b="1">
                <a:solidFill>
                  <a:srgbClr val="002060"/>
                </a:solidFill>
                <a:latin typeface="Arial"/>
              </a:rPr>
              <a:t>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CB764-8810-9356-7BB3-E9B488B9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4" y="1044262"/>
            <a:ext cx="10988842" cy="529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FarmingAI stands out by combining Agentic AI swarms, verified RAG, and live data: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Multi-Agent Swarm: </a:t>
            </a:r>
            <a:r>
              <a:rPr sz="2000" b="0">
                <a:solidFill>
                  <a:srgbClr val="1E1E1E"/>
                </a:solidFill>
                <a:latin typeface="Arial"/>
              </a:rPr>
              <a:t>Autonomous collaboration across 5 specialized agronomic agents.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Hallucination-Free RAG: </a:t>
            </a:r>
            <a:r>
              <a:rPr sz="2000" b="0">
                <a:solidFill>
                  <a:srgbClr val="1E1E1E"/>
                </a:solidFill>
                <a:latin typeface="Arial"/>
              </a:rPr>
              <a:t>Curated 12-topic extension corpus guarantees factual grounding.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Hyper-Personalization: </a:t>
            </a:r>
            <a:r>
              <a:rPr sz="2000" b="0">
                <a:solidFill>
                  <a:srgbClr val="1E1E1E"/>
                </a:solidFill>
                <a:latin typeface="Arial"/>
              </a:rPr>
              <a:t>Recommendations conditioned on 10 farmer profile parameters.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Multimodal Vision AI: </a:t>
            </a:r>
            <a:r>
              <a:rPr sz="2000" b="0">
                <a:solidFill>
                  <a:srgbClr val="1E1E1E"/>
                </a:solidFill>
                <a:latin typeface="Arial"/>
              </a:rPr>
              <a:t>Instant leaf pest &amp; disease pathology via Groq Llama 4 Vision.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Real-Time Weather Sync: </a:t>
            </a:r>
            <a:r>
              <a:rPr sz="2000" b="0">
                <a:solidFill>
                  <a:srgbClr val="1E1E1E"/>
                </a:solidFill>
                <a:latin typeface="Arial"/>
              </a:rPr>
              <a:t>Live meteorological API dynamically adjusts irrigation schedules.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Financial Break-Even Analysis: </a:t>
            </a:r>
            <a:r>
              <a:rPr sz="2000" b="0">
                <a:solidFill>
                  <a:srgbClr val="1E1E1E"/>
                </a:solidFill>
                <a:latin typeface="Arial"/>
              </a:rPr>
              <a:t>MSP procurement trends, crop budgeting, and revenue projections.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• Master Action Plan: </a:t>
            </a:r>
            <a:r>
              <a:rPr sz="2000" b="0">
                <a:solidFill>
                  <a:srgbClr val="1E1E1E"/>
                </a:solidFill>
                <a:latin typeface="Arial"/>
              </a:rPr>
              <a:t>Synthesizes isolated advisories into a single time-phased farming roadmap.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>
                <a:solidFill>
                  <a:srgbClr val="002060"/>
                </a:solidFill>
                <a:latin typeface="Arial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40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2000" b="1">
                <a:solidFill>
                  <a:srgbClr val="1E1E1E"/>
                </a:solidFill>
                <a:latin typeface="Arial"/>
              </a:rPr>
              <a:t>• Public GitHub Repository URL: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002060"/>
                </a:solidFill>
                <a:latin typeface="Arial"/>
              </a:rPr>
              <a:t>   [Insert Public GitHub Repository URL — e.g., https://github.com/username/FarmingAI]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1E1E"/>
                </a:solidFill>
                <a:latin typeface="Arial"/>
              </a:rPr>
              <a:t>• Required Project Deliverables Uploaded to Repository: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   1) Complete source code (app.py, config.py, agents/ directory, requirements.txt)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   2) Problem statement document (ProblemStatement_No14_SmartAgriculture.pdf)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   3) Final project presentation (FarmingAI_Project_Presentation.pptx)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   4) Comprehensive documentation (README.md with setup, API keys &amp; execution guide)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60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sz="2800" b="1">
                <a:solidFill>
                  <a:srgbClr val="002060"/>
                </a:solidFill>
                <a:latin typeface="Arial"/>
              </a:rPr>
              <a:t>Future Scope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30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sz="2000" b="1">
                <a:solidFill>
                  <a:srgbClr val="002060"/>
                </a:solidFill>
                <a:latin typeface="Arial"/>
              </a:rPr>
              <a:t>1. Dense Vector RAG &amp; IoT Soil Sensor Integration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Upgrade keyword retrieval to dense vector embeddings (ChromaDB / FAISS) and ingest live IoT hardware telemetry (soil moisture, N-P-K, pH sensors) for closed-loop automated irrigation.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2. Multilingual Voice Interface &amp; Real-Time Mandi Feeds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Implement voice speech-to-text / text-to-speech in regional Indian languages (Hindi, Kannada, Telugu, Marathi) and live API integration with government eNAM mandi price feeds.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2060"/>
                </a:solidFill>
                <a:latin typeface="Arial"/>
              </a:rPr>
              <a:t>3. Satellite NDVI Crop Health &amp; IBM watsonx.ai Deployment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Arial"/>
              </a:rPr>
              <a:t>Incorporate Sentinel-2 satellite imagery for remote vegetation health indexing, and deploy enterprise agent workflows on IBM watsonx.ai with IBM Granite models.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2060"/>
                </a:solidFill>
                <a:latin typeface="Arial"/>
              </a:rPr>
              <a:t>Certificates Earned: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Please add your credly certificate</a:t>
            </a:r>
          </a:p>
        </p:txBody>
      </p:sp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02060"/>
                </a:solidFill>
                <a:latin typeface="Arial"/>
              </a:rPr>
              <a:t>Certificates Earned: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E1E1E"/>
                </a:solidFill>
                <a:latin typeface="Arial"/>
              </a:rPr>
              <a:t>Add your IBM BOB Certificate</a:t>
            </a:r>
          </a:p>
        </p:txBody>
      </p:sp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1063</Words>
  <Application>Microsoft Office PowerPoint</Application>
  <PresentationFormat>Widescreen</PresentationFormat>
  <Paragraphs>100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FarmingAI AI Agent for Smart Farming Advice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Girish Neelagund</cp:lastModifiedBy>
  <cp:revision>2</cp:revision>
  <dcterms:created xsi:type="dcterms:W3CDTF">2025-07-08T05:06:56Z</dcterms:created>
  <dcterms:modified xsi:type="dcterms:W3CDTF">2026-09-23T14:55:35Z</dcterms:modified>
</cp:coreProperties>
</file>